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90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tkara Layout">
  <p:cSld name="Chitkara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47427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287525"/>
            <a:ext cx="9144000" cy="49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800"/>
              </a:spcBef>
            </a:pPr>
            <a:r>
              <a:rPr lang="en-IN" sz="3600" dirty="0"/>
              <a:t>Automated Version Management Large-Scale Python </a:t>
            </a:r>
            <a:r>
              <a:rPr lang="en-IN" sz="3600" dirty="0" err="1"/>
              <a:t>Monorepos</a:t>
            </a:r>
            <a:r>
              <a:rPr lang="en-IN" sz="3600" dirty="0"/>
              <a:t> </a:t>
            </a:r>
          </a:p>
          <a:p>
            <a:pPr lvl="0" algn="ctr">
              <a:spcBef>
                <a:spcPts val="800"/>
              </a:spcBef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Divyanshu Sharma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2210991538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Preeti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Saini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Department of computer science and engineering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Chitkara University of Institute of engineering and Technology , Chitkara University , Punjab ,India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9483-8BA7-0B03-2D4D-328F43C0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380A12-397C-8CF4-7573-DA9B47D247E9}"/>
              </a:ext>
            </a:extLst>
          </p:cNvPr>
          <p:cNvSpPr txBox="1">
            <a:spLocks/>
          </p:cNvSpPr>
          <p:nvPr/>
        </p:nvSpPr>
        <p:spPr>
          <a:xfrm>
            <a:off x="319211" y="1108455"/>
            <a:ext cx="6779857" cy="47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Centralized Version Orchestration for Python </a:t>
            </a:r>
            <a:r>
              <a:rPr lang="en-US" sz="2000" dirty="0" err="1"/>
              <a:t>Monorepos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E7E56-3564-7078-2A4C-76F471C9EED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3244" y="1850153"/>
            <a:ext cx="8429934" cy="33384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Challenges of Distributed Versioning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Distributed semantic versioning causes version drift, merge conflicts, and unstable CI/CD in large Python </a:t>
            </a:r>
            <a:r>
              <a:rPr lang="en-US" sz="1200" dirty="0" err="1"/>
              <a:t>monorepos</a:t>
            </a:r>
            <a:r>
              <a:rPr lang="en-US" sz="1200" dirty="0"/>
              <a:t>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Centralized Version Orchestration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A single authoritative repository-level version is used, injecting correct release versions dynamically during build time.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Empirical Evaluation Results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Centralized orchestration reduced merge conflicts by 87%, improved build reproducibility to over 98%, and sped up pipelines.</a:t>
            </a:r>
          </a:p>
        </p:txBody>
      </p:sp>
    </p:spTree>
    <p:extLst>
      <p:ext uri="{BB962C8B-B14F-4D97-AF65-F5344CB8AC3E}">
        <p14:creationId xmlns:p14="http://schemas.microsoft.com/office/powerpoint/2010/main" val="126498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3563-157F-F8C1-8363-8B134A5F49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2400" b="0" i="0" u="none" strike="noStrike" cap="none">
                <a:solidFill>
                  <a:schemeClr val="dk1"/>
                </a:solidFill>
              </a:rPr>
              <a:t>Challenges of Distributed Versioning in Monorepos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E7029A9-E464-7EA5-093C-464FEC97DF6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0" y="1028219"/>
            <a:ext cx="8616142" cy="504422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Complex Version Management</a:t>
            </a:r>
          </a:p>
          <a:p>
            <a:pPr marL="0" lvl="1" indent="0">
              <a:buFont typeface="Arial"/>
              <a:buNone/>
            </a:pPr>
            <a:r>
              <a:rPr lang="en-IN" dirty="0" err="1"/>
              <a:t>Monorepos</a:t>
            </a:r>
            <a:r>
              <a:rPr lang="en-IN" dirty="0"/>
              <a:t> simplify code sharing but complicate versioning with independent semantic versioning per package.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Non-deterministic CI/CD </a:t>
            </a:r>
            <a:r>
              <a:rPr lang="en-IN" b="1" dirty="0" err="1"/>
              <a:t>Behavior</a:t>
            </a:r>
            <a:endParaRPr lang="en-IN" b="1" dirty="0"/>
          </a:p>
          <a:p>
            <a:pPr marL="0" lvl="1" indent="0">
              <a:buFont typeface="Arial"/>
              <a:buNone/>
            </a:pPr>
            <a:r>
              <a:rPr lang="en-IN" dirty="0"/>
              <a:t>Independent package updates cause variable dependency resolution and inconsistent build outcomes in pipelines.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Manual Version Coordination Burden</a:t>
            </a:r>
          </a:p>
          <a:p>
            <a:pPr marL="0" lvl="1" indent="0">
              <a:buFont typeface="Arial"/>
              <a:buNone/>
            </a:pPr>
            <a:r>
              <a:rPr lang="en-IN" dirty="0"/>
              <a:t>Release engineers manually align dozens of package versions, causing time-consuming merge conflicts and errors.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Impact on Code Review and Development</a:t>
            </a:r>
          </a:p>
          <a:p>
            <a:pPr marL="0" lvl="1" indent="0">
              <a:buFont typeface="Arial"/>
              <a:buNone/>
            </a:pPr>
            <a:r>
              <a:rPr lang="en-IN" dirty="0"/>
              <a:t>Frequent version commits overwhelm reviews and divert developer focus from features and quality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7371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C1F8-1C70-55A9-15D9-1334D0E63630}"/>
              </a:ext>
            </a:extLst>
          </p:cNvPr>
          <p:cNvSpPr txBox="1">
            <a:spLocks/>
          </p:cNvSpPr>
          <p:nvPr/>
        </p:nvSpPr>
        <p:spPr>
          <a:xfrm>
            <a:off x="0" y="1142469"/>
            <a:ext cx="5423282" cy="68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2400" b="0" i="0" u="none" strike="noStrike" cap="none" dirty="0" err="1">
                <a:solidFill>
                  <a:schemeClr val="dk1"/>
                </a:solidFill>
              </a:rPr>
              <a:t>Monorepo</a:t>
            </a:r>
            <a:r>
              <a:rPr lang="en-US" sz="2400" b="0" i="0" u="none" strike="noStrike" cap="none" dirty="0">
                <a:solidFill>
                  <a:schemeClr val="dk1"/>
                </a:solidFill>
              </a:rPr>
              <a:t> Practices, Packaging, and CI/CD </a:t>
            </a:r>
            <a:r>
              <a:rPr lang="en-US" sz="2400" b="0" i="0" u="none" strike="noStrike" cap="none" dirty="0" err="1">
                <a:solidFill>
                  <a:schemeClr val="dk1"/>
                </a:solidFill>
              </a:rPr>
              <a:t>Research</a:t>
            </a:r>
            <a:r>
              <a:rPr lang="en-US" sz="2400" dirty="0" err="1">
                <a:solidFill>
                  <a:schemeClr val="dk1"/>
                </a:solidFill>
              </a:rPr>
              <a:t>Python</a:t>
            </a:r>
            <a:endParaRPr lang="en-US" sz="2400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A975DA-D349-02A6-35E3-7E02DA69266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0" y="1882833"/>
            <a:ext cx="5049982" cy="445562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 err="1"/>
              <a:t>Monorepo</a:t>
            </a:r>
            <a:r>
              <a:rPr lang="en-US" b="1" dirty="0"/>
              <a:t> Large-scale Management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Large-scale </a:t>
            </a:r>
            <a:r>
              <a:rPr lang="en-US" dirty="0" err="1"/>
              <a:t>monorepo</a:t>
            </a:r>
            <a:r>
              <a:rPr lang="en-US" dirty="0"/>
              <a:t> management involves centralized build systems to handle interdependencies and reduce merge conflicts effectively.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/>
              <a:t>Python Packaging Standards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Python packaging uses semantic versioning and build standards outlined in PEP 440, 517, and 518 to ensure consistent dependency resolution.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/>
              <a:t>CI/CD Build Reproducibility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Reproducible CI/CD builds address non-deterministic dependency resolution and focus on version consistency to prevent build failures.</a:t>
            </a:r>
          </a:p>
        </p:txBody>
      </p:sp>
      <p:pic>
        <p:nvPicPr>
          <p:cNvPr id="4" name="Content Placeholder 4" descr="Laptop with error message and IT support">
            <a:extLst>
              <a:ext uri="{FF2B5EF4-FFF2-40B4-BE49-F238E27FC236}">
                <a16:creationId xmlns:a16="http://schemas.microsoft.com/office/drawing/2014/main" id="{D47D3DBB-F4D1-1267-56BD-0459EA845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8" r="27258" b="-3"/>
          <a:stretch>
            <a:fillRect/>
          </a:stretch>
        </p:blipFill>
        <p:spPr>
          <a:xfrm>
            <a:off x="5000561" y="816245"/>
            <a:ext cx="4143439" cy="5917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58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BCC3-D43B-F1CE-3BA4-D0577E159D9F}"/>
              </a:ext>
            </a:extLst>
          </p:cNvPr>
          <p:cNvSpPr txBox="1">
            <a:spLocks/>
          </p:cNvSpPr>
          <p:nvPr/>
        </p:nvSpPr>
        <p:spPr>
          <a:xfrm>
            <a:off x="822129" y="1147157"/>
            <a:ext cx="6738296" cy="524860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00" dirty="0"/>
              <a:t>Architecture of the Centralized Version Orchestration Framework</a:t>
            </a:r>
          </a:p>
        </p:txBody>
      </p:sp>
      <p:pic>
        <p:nvPicPr>
          <p:cNvPr id="3" name="Content Placeholder 4" descr="3d flow chart.">
            <a:extLst>
              <a:ext uri="{FF2B5EF4-FFF2-40B4-BE49-F238E27FC236}">
                <a16:creationId xmlns:a16="http://schemas.microsoft.com/office/drawing/2014/main" id="{AA24A67E-4C16-104E-B5F7-25BDEB46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7" y="2549824"/>
            <a:ext cx="4410110" cy="220505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98F44-1987-CBAC-602E-9F6CD5B8E0F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71405" y="1798196"/>
            <a:ext cx="4251961" cy="482289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Repository-Level Version Control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A single VERSION file acts as the authoritative source for package versions, protected by CODEOWNERS for controlled updates.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Sentinel Version Metadata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Packages use a sentinel version, like 0.0.0.dev0, to prevent accidental publishing of stale or inconsistent versions.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CI/CD Integration and Version Injection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The pipeline injects release versions into package metadata during builds without modifying source control, using a lightweight Python script.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Dependency Synchronization Engine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Dependency graph and cycle detection replace path dependencies with exact versions to ensure valid, deterministic builds.</a:t>
            </a:r>
          </a:p>
        </p:txBody>
      </p:sp>
    </p:spTree>
    <p:extLst>
      <p:ext uri="{BB962C8B-B14F-4D97-AF65-F5344CB8AC3E}">
        <p14:creationId xmlns:p14="http://schemas.microsoft.com/office/powerpoint/2010/main" val="105827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8DD4-E699-9579-C731-F4D5B66B3A64}"/>
              </a:ext>
            </a:extLst>
          </p:cNvPr>
          <p:cNvSpPr txBox="1">
            <a:spLocks/>
          </p:cNvSpPr>
          <p:nvPr/>
        </p:nvSpPr>
        <p:spPr>
          <a:xfrm>
            <a:off x="315711" y="1217814"/>
            <a:ext cx="5861304" cy="907440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Quantitative Impact on CI/CD Performance and Reliability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9759DF1-E48A-57AD-4E3E-1D9FEF0C255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89867" y="1971502"/>
            <a:ext cx="5379166" cy="46786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Reduction in Merge Conflicts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Version-related merge conflicts decreased from 14.7 to 3.4 per sprint, achieving an 87% improvement.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CI/CD Pipeline Performance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Pipeline duration decreased by up to 36.3%, with dependency resolution time reduced by over 85%.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Enhanced Build Reproducibility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Build reproducibility increased from 70.4% to over 98.4%, exceeding organizational goals.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Reliability and Scalability Gains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Dependency failures dropped by 89.5%, validating framework scalability across large </a:t>
            </a:r>
            <a:r>
              <a:rPr lang="en-US" dirty="0" err="1"/>
              <a:t>monorepos</a:t>
            </a:r>
            <a:r>
              <a:rPr lang="en-US" dirty="0"/>
              <a:t>.</a:t>
            </a:r>
          </a:p>
        </p:txBody>
      </p:sp>
      <p:pic>
        <p:nvPicPr>
          <p:cNvPr id="4" name="Content Placeholder 4" descr="technology and innovation concept">
            <a:extLst>
              <a:ext uri="{FF2B5EF4-FFF2-40B4-BE49-F238E27FC236}">
                <a16:creationId xmlns:a16="http://schemas.microsoft.com/office/drawing/2014/main" id="{E4CF644E-3939-B9CF-3BA1-3C9422B8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84" r="28666" b="1"/>
          <a:stretch>
            <a:fillRect/>
          </a:stretch>
        </p:blipFill>
        <p:spPr>
          <a:xfrm>
            <a:off x="6177015" y="1535701"/>
            <a:ext cx="2966985" cy="5180984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8804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CA2B-7A9B-ADCD-722A-EBDB194BDB9B}"/>
              </a:ext>
            </a:extLst>
          </p:cNvPr>
          <p:cNvSpPr txBox="1">
            <a:spLocks/>
          </p:cNvSpPr>
          <p:nvPr/>
        </p:nvSpPr>
        <p:spPr>
          <a:xfrm>
            <a:off x="4156365" y="964276"/>
            <a:ext cx="4800600" cy="806284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100" dirty="0"/>
              <a:t>Developer Productivity and Experience Improvements</a:t>
            </a:r>
          </a:p>
        </p:txBody>
      </p:sp>
      <p:pic>
        <p:nvPicPr>
          <p:cNvPr id="3" name="Content Placeholder 4" descr="Man using laptop computer">
            <a:extLst>
              <a:ext uri="{FF2B5EF4-FFF2-40B4-BE49-F238E27FC236}">
                <a16:creationId xmlns:a16="http://schemas.microsoft.com/office/drawing/2014/main" id="{A9A44767-05DE-ABE5-4058-227213B1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1" r="13916" b="-2"/>
          <a:stretch>
            <a:fillRect/>
          </a:stretch>
        </p:blipFill>
        <p:spPr>
          <a:xfrm>
            <a:off x="11847" y="843740"/>
            <a:ext cx="3895007" cy="3628505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1E264-F8FC-6E4F-0726-88DF4C0FDEE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56365" y="1803861"/>
            <a:ext cx="4630190" cy="425196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Enhanced Developer Experience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Surveys show increased release confidence and reduced onboarding complexity after framework adoption.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Time and Effort Savings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Monthly savings of 22 to 26 developer hours arise from fewer merge conflicts and streamlined version control.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Faster Release Cycles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Release duration reduced by 46%, enabling more frequent and predictable feature delivery.</a:t>
            </a:r>
          </a:p>
        </p:txBody>
      </p:sp>
    </p:spTree>
    <p:extLst>
      <p:ext uri="{BB962C8B-B14F-4D97-AF65-F5344CB8AC3E}">
        <p14:creationId xmlns:p14="http://schemas.microsoft.com/office/powerpoint/2010/main" val="152958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9F90-D1B0-C911-951F-9A4C624E2A16}"/>
              </a:ext>
            </a:extLst>
          </p:cNvPr>
          <p:cNvSpPr txBox="1">
            <a:spLocks/>
          </p:cNvSpPr>
          <p:nvPr/>
        </p:nvSpPr>
        <p:spPr>
          <a:xfrm>
            <a:off x="386541" y="1126375"/>
            <a:ext cx="5823065" cy="911080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Summary of Contributions and Practical Implications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6E2AC6-E371-DE26-9996-DA32428A252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86541" y="1830185"/>
            <a:ext cx="8147304" cy="456645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Centralized Version Orchestration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Centralized version orchestration improves management of large Python </a:t>
            </a:r>
            <a:r>
              <a:rPr lang="en-US" dirty="0" err="1"/>
              <a:t>monorepos</a:t>
            </a:r>
            <a:r>
              <a:rPr lang="en-US" dirty="0"/>
              <a:t> by decoupling version authority and enforcing CI/CD consistency.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Empirical Benefits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Real-world data shows an 87% reduction in merge conflicts and up to 36% faster CI/CD pipelines, enhancing build reproducibility and reliability.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Developer Productivity and Reliability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Developer surveys confirm increased productivity, release confidence, and velocity with minimal migration effort required for adoption.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Scalability and Practicality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The framework offers a scalable, reliable, and low-overhead alternative to distributed semantic versioning for large scale </a:t>
            </a:r>
            <a:r>
              <a:rPr lang="en-US" dirty="0" err="1"/>
              <a:t>monorepos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95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638</Words>
  <Application>Microsoft Office PowerPoint</Application>
  <PresentationFormat>On-screen Show (4:3)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 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Sharma, Divyanshu</cp:lastModifiedBy>
  <cp:revision>3</cp:revision>
  <dcterms:modified xsi:type="dcterms:W3CDTF">2026-04-30T08:48:47Z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2026-04-26T10:17:25Z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c0e2c131-af5f-4826-ba4f-20d2652ab214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